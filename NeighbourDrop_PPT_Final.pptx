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CASE STUDY 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0213A"/>
                </a:solidFill>
                <a:latin typeface="Aptos"/>
              </a:rPr>
              <a:t>NeighbourDrop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ptos"/>
              </a:rPr>
              <a:t>Local Retail Delivery Membership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6492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tos"/>
              </a:rPr>
              <a:t>A subscription-led local delivery model for residents ordering from multiple nearby stores.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051560"/>
            <a:ext cx="32004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5087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2563EB"/>
                </a:solidFill>
                <a:latin typeface="Aptos"/>
              </a:rPr>
              <a:t>₹149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05740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per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7432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13A"/>
                </a:solidFill>
                <a:latin typeface="Aptos"/>
              </a:rPr>
              <a:t>✓  Free delivery within 3 km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33375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13A"/>
                </a:solidFill>
                <a:latin typeface="Aptos"/>
              </a:rPr>
              <a:t>✓  Multiple participating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931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0213A"/>
                </a:solidFill>
                <a:latin typeface="Aptos"/>
              </a:rPr>
              <a:t>✓  Subscription-based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Rima Maji  •  Roll No. 150096725215  •  Semester III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213A"/>
                </a:solidFill>
                <a:latin typeface="Aptos"/>
              </a:rPr>
              <a:t>01  Problem, Customer &amp;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3520440" cy="4480560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CUSTOMER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880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0213A"/>
                </a:solidFill>
                <a:latin typeface="Aptos"/>
              </a:defRPr>
            </a:pPr>
            <a:r>
              <a:t>Frequent orders from multiple nearby stores</a:t>
            </a:r>
          </a:p>
          <a:p>
            <a:pPr>
              <a:spcAft>
                <a:spcPts val="800"/>
              </a:spcAft>
              <a:defRPr sz="1400">
                <a:solidFill>
                  <a:srgbClr val="10213A"/>
                </a:solidFill>
                <a:latin typeface="Aptos"/>
              </a:defRPr>
            </a:pPr>
            <a:r>
              <a:t>Separate delivery charges increase monthly spend</a:t>
            </a:r>
          </a:p>
          <a:p>
            <a:pPr>
              <a:spcAft>
                <a:spcPts val="800"/>
              </a:spcAft>
              <a:defRPr sz="1400">
                <a:solidFill>
                  <a:srgbClr val="10213A"/>
                </a:solidFill>
                <a:latin typeface="Aptos"/>
              </a:defRPr>
            </a:pPr>
            <a:r>
              <a:t>Fragmented local delivery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52628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213A"/>
                </a:solidFill>
                <a:latin typeface="Aptos"/>
              </a:rPr>
              <a:t>Combine recurring local demand under one simple membership.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43000"/>
            <a:ext cx="33375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E2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Aptos"/>
              </a:rPr>
              <a:t>TARGET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213A"/>
                </a:solidFill>
                <a:latin typeface="Aptos"/>
              </a:rPr>
              <a:t>Frequent local shoppers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0213A"/>
                </a:solidFill>
                <a:latin typeface="Aptos"/>
              </a:defRPr>
            </a:pPr>
            <a:r>
              <a:t>Residents in dense neighbourhoods</a:t>
            </a:r>
          </a:p>
          <a:p>
            <a:pPr>
              <a:spcAft>
                <a:spcPts val="800"/>
              </a:spcAft>
              <a:defRPr sz="1300">
                <a:solidFill>
                  <a:srgbClr val="10213A"/>
                </a:solidFill>
                <a:latin typeface="Aptos"/>
              </a:defRPr>
            </a:pPr>
            <a:r>
              <a:t>Families, students and working professionals</a:t>
            </a:r>
          </a:p>
          <a:p>
            <a:pPr>
              <a:spcAft>
                <a:spcPts val="800"/>
              </a:spcAft>
              <a:defRPr sz="1300">
                <a:solidFill>
                  <a:srgbClr val="10213A"/>
                </a:solidFill>
                <a:latin typeface="Aptos"/>
              </a:defRPr>
            </a:pPr>
            <a:r>
              <a:t>Customers who make multiple local purchases/month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143000"/>
            <a:ext cx="3566160" cy="4480560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4173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A5FA"/>
                </a:solidFill>
                <a:latin typeface="Aptos"/>
              </a:rPr>
              <a:t>VALUE PROPOSITION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₹149/month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603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Free delivery from participating stores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Within a 3 km radius</a:t>
            </a:r>
          </a:p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One membership across local stores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213A"/>
                </a:solidFill>
                <a:latin typeface="Aptos"/>
              </a:rPr>
              <a:t>02  Customer Journey &amp; Service Touchpoints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508760"/>
            <a:ext cx="15727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Oval 4"/>
          <p:cNvSpPr/>
          <p:nvPr/>
        </p:nvSpPr>
        <p:spPr>
          <a:xfrm>
            <a:off x="704088" y="1719072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13A"/>
                </a:solidFill>
                <a:latin typeface="Aptos"/>
              </a:rPr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Local campaign / referral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3704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1508760"/>
            <a:ext cx="15727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Oval 10"/>
          <p:cNvSpPr/>
          <p:nvPr/>
        </p:nvSpPr>
        <p:spPr>
          <a:xfrm>
            <a:off x="2606040" y="1719072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2331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13A"/>
                </a:solidFill>
                <a:latin typeface="Aptos"/>
              </a:rPr>
              <a:t>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8803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₹149 membership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05656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1508760"/>
            <a:ext cx="15727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4507992" y="1719072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331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13A"/>
                </a:solidFill>
                <a:latin typeface="Aptos"/>
              </a:rPr>
              <a:t>Discover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8803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Stores within 3 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7608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0216" y="1508760"/>
            <a:ext cx="15727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9944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Oval 22"/>
          <p:cNvSpPr/>
          <p:nvPr/>
        </p:nvSpPr>
        <p:spPr>
          <a:xfrm>
            <a:off x="6409944" y="1719072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2331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13A"/>
                </a:solidFill>
                <a:latin typeface="Aptos"/>
              </a:rPr>
              <a:t>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8803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Select store + place order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02168" y="1508760"/>
            <a:ext cx="15727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9" name="Oval 28"/>
          <p:cNvSpPr/>
          <p:nvPr/>
        </p:nvSpPr>
        <p:spPr>
          <a:xfrm>
            <a:off x="8311896" y="1719072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2331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13A"/>
                </a:solidFill>
                <a:latin typeface="Aptos"/>
              </a:rPr>
              <a:t>Deliver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28803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Pickup + route + handover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1512" y="27432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104120" y="1508760"/>
            <a:ext cx="1572768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13848" y="17373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5" name="Oval 34"/>
          <p:cNvSpPr/>
          <p:nvPr/>
        </p:nvSpPr>
        <p:spPr>
          <a:xfrm>
            <a:off x="10213848" y="1719072"/>
            <a:ext cx="329184" cy="329184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0" y="23317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13A"/>
                </a:solidFill>
                <a:latin typeface="Aptos"/>
              </a:rPr>
              <a:t>Retain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288036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Feedback + renewal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213A"/>
                </a:solidFill>
                <a:latin typeface="Aptos"/>
              </a:rPr>
              <a:t>Key operational touchpoints: membership platform • store handover • delivery assignment • route tracking • support •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213A"/>
                </a:solidFill>
                <a:latin typeface="Aptos"/>
              </a:rPr>
              <a:t>03  Business Model &amp; Supply 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4300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527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Partners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21615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Stores, delivery partners, payment provider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14300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25272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Activities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21615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Acquisition, onboarding, order &amp; route operations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10312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12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Resources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7627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Member base, platform, store &amp; delivery network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10312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21284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Channels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7627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App/web, residential campaigns, referrals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6324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72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3639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Self-service, support, notifications, loyalty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06324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1729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Segments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13639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Frequent local shoppers in dense clusters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02336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33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Costs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09651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Delivery, tech, marketing, support, onboarding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4023360"/>
            <a:ext cx="3429000" cy="749808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13308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563EB"/>
                </a:solidFill>
                <a:latin typeface="Aptos"/>
              </a:rPr>
              <a:t>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096512"/>
            <a:ext cx="2240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₹149 monthly membership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SUPPLY CHAIN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1600200"/>
            <a:ext cx="1371600" cy="822960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9872" y="1764792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Customer
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10928" y="1600200"/>
            <a:ext cx="1371600" cy="822960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764792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NeighbourDrop
Validation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2834640"/>
            <a:ext cx="1371600" cy="822960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2" y="2999232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Store
Preparation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710928" y="2834640"/>
            <a:ext cx="1371600" cy="822960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2999232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Delivery
Pickup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4069080"/>
            <a:ext cx="1371600" cy="822960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2" y="4233672"/>
            <a:ext cx="12252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Route &amp;
Handover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91472" y="1810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91472" y="30449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4206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213A"/>
                </a:solidFill>
                <a:latin typeface="Aptos"/>
              </a:rPr>
              <a:t>04  Pilot Economics, SWOT &amp; Risks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097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075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600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79" y="1097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39" y="13075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171907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deliveries /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97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075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₹89,400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1907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monthly membership 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9" y="1097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307592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563EB"/>
                </a:solidFill>
                <a:latin typeface="Aptos"/>
              </a:rPr>
              <a:t>₹29.80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71907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4748B"/>
                </a:solidFill>
                <a:latin typeface="Aptos"/>
              </a:rPr>
              <a:t>revenue per expected delivery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51460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243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5877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Affordable plan; recurring revenue; local focus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51460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6243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Weaknesses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58775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3 km limit; density dependency; new brand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61188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72160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Opportunities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8503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More clusters/stores; route density; loyalty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3611880"/>
            <a:ext cx="3474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72160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Threats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685032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213A"/>
                </a:solidFill>
                <a:latin typeface="Aptos"/>
              </a:rPr>
              <a:t>Competition; delivery costs; churn; service issues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514600"/>
            <a:ext cx="3246120" cy="3063240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0A5FA"/>
                </a:solidFill>
                <a:latin typeface="Aptos"/>
              </a:rPr>
              <a:t>KEY RISKS + MITIGATION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246120"/>
            <a:ext cx="2697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Low adoption → referrals + residential campaigns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High delivery cost → dense clusters + route optimization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Delays → service targets + backup capacity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Store errors → onboarding checklist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t>Churn → usage insights + renewal reminders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0213A"/>
                </a:solidFill>
                <a:latin typeface="Aptos"/>
              </a:rPr>
              <a:t>05  90-Day Pilot-to-Scale Plan &amp; MVP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18872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Days 1–30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213A"/>
                </a:solidFill>
                <a:latin typeface="Aptos"/>
              </a:rPr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762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Select cluster • onboard stores • recruit delivery partners • launch membership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Days 31–60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213A"/>
                </a:solidFill>
                <a:latin typeface="Aptos"/>
              </a:rPr>
              <a:t>OPTIMIZE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762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Measure cost, density, delivery time, satisfaction • fix operational issues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188720"/>
            <a:ext cx="3429000" cy="1828800"/>
          </a:xfrm>
          <a:prstGeom prst="roundRect">
            <a:avLst/>
          </a:prstGeom>
          <a:solidFill>
            <a:srgbClr val="F4F7FB"/>
          </a:solidFill>
          <a:ln>
            <a:solidFill>
              <a:srgbClr val="E3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417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Days 61–90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737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0213A"/>
                </a:solidFill>
                <a:latin typeface="Aptos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76272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Grow members • add stores selectively • strengthen retention • prepare next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MVP DEMO FLOW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069080"/>
            <a:ext cx="1298448" cy="658368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2428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67128" y="4069080"/>
            <a:ext cx="1298448" cy="658368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422452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₹149 Membership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2428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39896" y="4069080"/>
            <a:ext cx="1298448" cy="658368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5" y="422452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Nearby Stores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42428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12664" y="4069080"/>
            <a:ext cx="1298448" cy="658368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4" y="422452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Select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42428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85432" y="4069080"/>
            <a:ext cx="1298448" cy="658368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31152" y="422452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42428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4069080"/>
            <a:ext cx="1298448" cy="658368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22452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Delivery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4242816"/>
            <a:ext cx="228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ptos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30968" y="4069080"/>
            <a:ext cx="1298448" cy="658368"/>
          </a:xfrm>
          <a:prstGeom prst="roundRect">
            <a:avLst/>
          </a:prstGeom>
          <a:solidFill>
            <a:srgbClr val="10213A"/>
          </a:solidFill>
          <a:ln>
            <a:solidFill>
              <a:srgbClr val="1021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76688" y="4224528"/>
            <a:ext cx="12070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55321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213A"/>
                </a:solidFill>
                <a:latin typeface="Aptos"/>
              </a:rPr>
              <a:t>Success criteria: member growth • ~5 orders/member/month • delivery cost control • on-time delivery • repeat usage • renewal intent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172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